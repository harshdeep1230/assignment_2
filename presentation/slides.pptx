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86" y="-2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2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2148840"/>
            <a:ext cx="118872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9FC3F7"/>
                </a:solidFill>
                <a:latin typeface="Calibri"/>
              </a:rPr>
              <a:t>CST8917 · SERVERLESS APPLICATIONS · ASSIGNMENT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Harshdeep Puri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91072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200" b="0" i="0" dirty="0">
                <a:solidFill>
                  <a:srgbClr val="9FC3F7"/>
                </a:solidFill>
                <a:latin typeface="Calibri"/>
              </a:rPr>
              <a:t>]</a:t>
            </a:r>
            <a:endParaRPr sz="1200" b="0" i="0" dirty="0">
              <a:solidFill>
                <a:srgbClr val="9FC3F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THE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223D"/>
                </a:solidFill>
                <a:latin typeface="Calibri"/>
              </a:rPr>
              <a:t>The business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445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73152" cy="6492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37744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23D"/>
                </a:solidFill>
                <a:latin typeface="Calibri"/>
              </a:rPr>
              <a:t>Payload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737360"/>
            <a:ext cx="813816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3A4555"/>
                </a:solidFill>
                <a:latin typeface="Calibri"/>
              </a:rPr>
              <a:t>employee_name, employee_email, amount, category, description, manager_email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96312"/>
            <a:ext cx="73152" cy="6492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96312"/>
            <a:ext cx="237744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23D"/>
                </a:solidFill>
                <a:latin typeface="Calibri"/>
              </a:rPr>
              <a:t>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496312"/>
            <a:ext cx="813816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3A4555"/>
                </a:solidFill>
                <a:latin typeface="Calibri"/>
              </a:rPr>
              <a:t>All fields required. category ∈ {travel, meals, supplies, equipment, software, other}. amount must be positive.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55264"/>
            <a:ext cx="73152" cy="64922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255264"/>
            <a:ext cx="237744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23D"/>
                </a:solidFill>
                <a:latin typeface="Calibri"/>
              </a:rPr>
              <a:t>Auto-approve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255264"/>
            <a:ext cx="813816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3A4555"/>
                </a:solidFill>
                <a:latin typeface="Calibri"/>
              </a:rPr>
              <a:t>amount &lt; $100 → approved automatically, no manager step.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14216"/>
            <a:ext cx="73152" cy="64922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014216"/>
            <a:ext cx="237744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23D"/>
                </a:solidFill>
                <a:latin typeface="Calibri"/>
              </a:rPr>
              <a:t>Manager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014216"/>
            <a:ext cx="813816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3A4555"/>
                </a:solidFill>
                <a:latin typeface="Calibri"/>
              </a:rPr>
              <a:t>amount ≥ $100 requires an explicit approved / rejected decision.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773168"/>
            <a:ext cx="73152" cy="64922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773168"/>
            <a:ext cx="237744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23D"/>
                </a:solidFill>
                <a:latin typeface="Calibri"/>
              </a:rPr>
              <a:t>Timeout → escalation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773168"/>
            <a:ext cx="813816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3A4555"/>
                </a:solidFill>
                <a:latin typeface="Calibri"/>
              </a:rPr>
              <a:t>No response inside the approval window → auto-approved and flagged escalated.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532120"/>
            <a:ext cx="73152" cy="649224"/>
          </a:xfrm>
          <a:prstGeom prst="rect">
            <a:avLst/>
          </a:prstGeom>
          <a:solidFill>
            <a:srgbClr val="3A4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532120"/>
            <a:ext cx="237744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23D"/>
                </a:solidFill>
                <a:latin typeface="Calibri"/>
              </a:rPr>
              <a:t>Notification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532120"/>
            <a:ext cx="813816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3A4555"/>
                </a:solidFill>
                <a:latin typeface="Calibri"/>
              </a:rPr>
              <a:t>Employee is always notified of the final status.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55080"/>
            <a:ext cx="1088136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1" dirty="0">
                <a:solidFill>
                  <a:srgbClr val="1F6FEB"/>
                </a:solidFill>
                <a:latin typeface="Calibri"/>
              </a:rPr>
              <a:t>Both versions implement </a:t>
            </a:r>
            <a:r>
              <a:rPr lang="en-IN" sz="1250" b="1" i="1" dirty="0">
                <a:solidFill>
                  <a:srgbClr val="1F6FEB"/>
                </a:solidFill>
                <a:latin typeface="Calibri"/>
              </a:rPr>
              <a:t>same</a:t>
            </a:r>
            <a:r>
              <a:rPr sz="1250" b="1" i="1" dirty="0">
                <a:solidFill>
                  <a:srgbClr val="1F6FEB"/>
                </a:solidFill>
                <a:latin typeface="Calibri"/>
              </a:rPr>
              <a:t> rules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AAAA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 dirty="0">
                <a:solidFill>
                  <a:srgbClr val="0F223D"/>
                </a:solidFill>
                <a:latin typeface="Calibri"/>
              </a:rP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445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12080" cy="502920"/>
          </a:xfrm>
          <a:prstGeom prst="roundRect">
            <a:avLst>
              <a:gd name="adj" fmla="val 15000"/>
            </a:avLst>
          </a:prstGeom>
          <a:solidFill>
            <a:srgbClr val="0F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Version A · Durable Functions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F223D"/>
                </a:solidFill>
                <a:latin typeface="Calibri"/>
              </a:rPr>
              <a:t>HTTP trigger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3A4555"/>
                </a:solidFill>
                <a:latin typeface="Calibri"/>
              </a:rPr>
              <a:t>submit_expense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72968"/>
            <a:ext cx="52120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37560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F223D"/>
                </a:solidFill>
                <a:latin typeface="Calibri"/>
              </a:rPr>
              <a:t>Orchestrator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3A4555"/>
                </a:solidFill>
                <a:latin typeface="Calibri"/>
              </a:rPr>
              <a:t>validate → branch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95928"/>
            <a:ext cx="52120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60520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F223D"/>
                </a:solidFill>
                <a:latin typeface="Calibri"/>
              </a:rPr>
              <a:t>task_any( timer, ManagerDecision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18888"/>
            <a:ext cx="52120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83480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F223D"/>
                </a:solidFill>
                <a:latin typeface="Calibri"/>
              </a:rPr>
              <a:t>Activities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3A4555"/>
                </a:solidFill>
                <a:latin typeface="Calibri"/>
              </a:rPr>
              <a:t>notify employee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737360"/>
            <a:ext cx="5212080" cy="502920"/>
          </a:xfrm>
          <a:prstGeom prst="roundRect">
            <a:avLst>
              <a:gd name="adj" fmla="val 15000"/>
            </a:avLst>
          </a:prstGeom>
          <a:solidFill>
            <a:srgbClr val="0F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Version B · Logic Apps + Service Bus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514600"/>
            <a:ext cx="5212080" cy="621792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0F223D"/>
                </a:solidFill>
                <a:latin typeface="Calibri"/>
              </a:rPr>
              <a:t>HTTP Function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A4555"/>
                </a:solidFill>
                <a:latin typeface="Calibri"/>
              </a:rPr>
              <a:t>validate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136392"/>
            <a:ext cx="521208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FEB"/>
                </a:solidFill>
                <a:latin typeface="Calibri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264408"/>
            <a:ext cx="5212080" cy="621792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0F223D"/>
                </a:solidFill>
                <a:latin typeface="Calibri"/>
              </a:rPr>
              <a:t>Service Bus queue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A4555"/>
                </a:solidFill>
                <a:latin typeface="Calibri"/>
              </a:rPr>
              <a:t>incoming-expenses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886200"/>
            <a:ext cx="521208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FEB"/>
                </a:solidFill>
                <a:latin typeface="Calibri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014216"/>
            <a:ext cx="5212080" cy="621792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0F223D"/>
                </a:solidFill>
                <a:latin typeface="Calibri"/>
              </a:rPr>
              <a:t>Logic App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A4555"/>
                </a:solidFill>
                <a:latin typeface="Calibri"/>
              </a:rPr>
              <a:t>approve / reject / timeout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636008"/>
            <a:ext cx="521208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FEB"/>
                </a:solidFill>
                <a:latin typeface="Calibri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764024"/>
            <a:ext cx="5212080" cy="621792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0F223D"/>
                </a:solidFill>
                <a:latin typeface="Calibri"/>
              </a:rPr>
              <a:t>Service Bus topic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A4555"/>
                </a:solidFill>
                <a:latin typeface="Calibri"/>
              </a:rPr>
              <a:t>expense-outcomes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385816"/>
            <a:ext cx="521208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FEB"/>
                </a:solidFill>
                <a:latin typeface="Calibri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5513832"/>
            <a:ext cx="5212080" cy="621792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0F223D"/>
                </a:solidFill>
                <a:latin typeface="Calibri"/>
              </a:rPr>
              <a:t>3 filtered subscriptions → notify functions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AAAA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VERSION A · DURABLE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 dirty="0">
                <a:solidFill>
                  <a:srgbClr val="0F223D"/>
                </a:solidFill>
                <a:latin typeface="Calibri"/>
              </a:rPr>
              <a:t>The race: </a:t>
            </a:r>
            <a:r>
              <a:rPr sz="3000" b="1" i="0" dirty="0" err="1">
                <a:solidFill>
                  <a:srgbClr val="0F223D"/>
                </a:solidFill>
                <a:latin typeface="Calibri"/>
              </a:rPr>
              <a:t>task_any</a:t>
            </a:r>
            <a:r>
              <a:rPr sz="3000" b="1" i="0" dirty="0">
                <a:solidFill>
                  <a:srgbClr val="0F223D"/>
                </a:solidFill>
                <a:latin typeface="Calibri"/>
              </a:rPr>
              <a:t>(timer, event)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445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2697480"/>
          </a:xfrm>
          <a:prstGeom prst="rect">
            <a:avLst/>
          </a:prstGeom>
          <a:solidFill>
            <a:srgbClr val="0F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56232"/>
            <a:ext cx="10332720" cy="2368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 dirty="0">
                <a:solidFill>
                  <a:srgbClr val="C5C8C6"/>
                </a:solidFill>
                <a:latin typeface="Consolas"/>
              </a:rPr>
              <a:t>if amount &lt; 100:</a:t>
            </a:r>
          </a:p>
          <a:p>
            <a:pPr algn="l">
              <a:spcAft>
                <a:spcPts val="0"/>
              </a:spcAft>
            </a:pPr>
            <a:r>
              <a:rPr sz="1300" b="0" i="0" dirty="0">
                <a:solidFill>
                  <a:srgbClr val="C5C8C6"/>
                </a:solidFill>
                <a:latin typeface="Consolas"/>
              </a:rPr>
              <a:t>    return </a:t>
            </a:r>
            <a:r>
              <a:rPr sz="1300" b="0" i="0" dirty="0" err="1">
                <a:solidFill>
                  <a:srgbClr val="C5C8C6"/>
                </a:solidFill>
                <a:latin typeface="Consolas"/>
              </a:rPr>
              <a:t>mark_approved</a:t>
            </a:r>
            <a:r>
              <a:rPr sz="1300" b="0" i="0" dirty="0">
                <a:solidFill>
                  <a:srgbClr val="C5C8C6"/>
                </a:solidFill>
                <a:latin typeface="Consolas"/>
              </a:rPr>
              <a:t>()</a:t>
            </a:r>
          </a:p>
          <a:p>
            <a:pPr algn="l">
              <a:spcAft>
                <a:spcPts val="0"/>
              </a:spcAft>
            </a:pP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300" b="0" i="0" dirty="0" err="1">
                <a:solidFill>
                  <a:srgbClr val="81A2BE"/>
                </a:solidFill>
                <a:latin typeface="Consolas"/>
              </a:rPr>
              <a:t>timer_task</a:t>
            </a:r>
            <a:r>
              <a:rPr sz="1300" b="0" i="0" dirty="0">
                <a:solidFill>
                  <a:srgbClr val="81A2BE"/>
                </a:solidFill>
                <a:latin typeface="Consolas"/>
              </a:rPr>
              <a:t> = </a:t>
            </a:r>
            <a:r>
              <a:rPr sz="1300" b="0" i="0" dirty="0" err="1">
                <a:solidFill>
                  <a:srgbClr val="81A2BE"/>
                </a:solidFill>
                <a:latin typeface="Consolas"/>
              </a:rPr>
              <a:t>context.create_timer</a:t>
            </a:r>
            <a:r>
              <a:rPr sz="1300" b="0" i="0" dirty="0">
                <a:solidFill>
                  <a:srgbClr val="81A2BE"/>
                </a:solidFill>
                <a:latin typeface="Consolas"/>
              </a:rPr>
              <a:t>(deadline)</a:t>
            </a:r>
          </a:p>
          <a:p>
            <a:pPr algn="l">
              <a:spcAft>
                <a:spcPts val="0"/>
              </a:spcAft>
            </a:pPr>
            <a:r>
              <a:rPr sz="1300" b="0" i="0" dirty="0" err="1">
                <a:solidFill>
                  <a:srgbClr val="81A2BE"/>
                </a:solidFill>
                <a:latin typeface="Consolas"/>
              </a:rPr>
              <a:t>event_task</a:t>
            </a:r>
            <a:r>
              <a:rPr sz="1300" b="0" i="0" dirty="0">
                <a:solidFill>
                  <a:srgbClr val="81A2BE"/>
                </a:solidFill>
                <a:latin typeface="Consolas"/>
              </a:rPr>
              <a:t> = </a:t>
            </a:r>
            <a:r>
              <a:rPr sz="1300" b="0" i="0" dirty="0" err="1">
                <a:solidFill>
                  <a:srgbClr val="81A2BE"/>
                </a:solidFill>
                <a:latin typeface="Consolas"/>
              </a:rPr>
              <a:t>context.wait_for_external_event</a:t>
            </a:r>
            <a:r>
              <a:rPr sz="1300" b="0" i="0" dirty="0">
                <a:solidFill>
                  <a:srgbClr val="81A2BE"/>
                </a:solidFill>
                <a:latin typeface="Consolas"/>
              </a:rPr>
              <a:t>("</a:t>
            </a:r>
            <a:r>
              <a:rPr sz="1300" b="0" i="0" dirty="0" err="1">
                <a:solidFill>
                  <a:srgbClr val="81A2BE"/>
                </a:solidFill>
                <a:latin typeface="Consolas"/>
              </a:rPr>
              <a:t>ManagerDecision</a:t>
            </a:r>
            <a:r>
              <a:rPr sz="1300" b="0" i="0" dirty="0">
                <a:solidFill>
                  <a:srgbClr val="81A2BE"/>
                </a:solidFill>
                <a:latin typeface="Consolas"/>
              </a:rPr>
              <a:t>")</a:t>
            </a:r>
          </a:p>
          <a:p>
            <a:pPr algn="l">
              <a:spcAft>
                <a:spcPts val="0"/>
              </a:spcAft>
            </a:pPr>
            <a:r>
              <a:rPr sz="1300" b="0" i="0" dirty="0">
                <a:solidFill>
                  <a:srgbClr val="B5BD68"/>
                </a:solidFill>
                <a:latin typeface="Consolas"/>
              </a:rPr>
              <a:t>winner = yield </a:t>
            </a:r>
            <a:r>
              <a:rPr sz="1300" b="0" i="0" dirty="0" err="1">
                <a:solidFill>
                  <a:srgbClr val="B5BD68"/>
                </a:solidFill>
                <a:latin typeface="Consolas"/>
              </a:rPr>
              <a:t>context.task_any</a:t>
            </a:r>
            <a:r>
              <a:rPr sz="1300" b="0" i="0" dirty="0">
                <a:solidFill>
                  <a:srgbClr val="B5BD68"/>
                </a:solidFill>
                <a:latin typeface="Consolas"/>
              </a:rPr>
              <a:t>([</a:t>
            </a:r>
            <a:r>
              <a:rPr sz="1300" b="0" i="0" dirty="0" err="1">
                <a:solidFill>
                  <a:srgbClr val="B5BD68"/>
                </a:solidFill>
                <a:latin typeface="Consolas"/>
              </a:rPr>
              <a:t>timer_task</a:t>
            </a:r>
            <a:r>
              <a:rPr sz="1300" b="0" i="0" dirty="0">
                <a:solidFill>
                  <a:srgbClr val="B5BD68"/>
                </a:solidFill>
                <a:latin typeface="Consolas"/>
              </a:rPr>
              <a:t>, </a:t>
            </a:r>
            <a:r>
              <a:rPr sz="1300" b="0" i="0" dirty="0" err="1">
                <a:solidFill>
                  <a:srgbClr val="B5BD68"/>
                </a:solidFill>
                <a:latin typeface="Consolas"/>
              </a:rPr>
              <a:t>event_task</a:t>
            </a:r>
            <a:r>
              <a:rPr sz="1300" b="0" i="0" dirty="0">
                <a:solidFill>
                  <a:srgbClr val="B5BD68"/>
                </a:solidFill>
                <a:latin typeface="Consolas"/>
              </a:rPr>
              <a:t>])</a:t>
            </a:r>
          </a:p>
          <a:p>
            <a:pPr algn="l">
              <a:spcAft>
                <a:spcPts val="0"/>
              </a:spcAft>
            </a:pP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300" b="0" i="0" dirty="0">
                <a:solidFill>
                  <a:srgbClr val="C5C8C6"/>
                </a:solidFill>
                <a:latin typeface="Consolas"/>
              </a:rPr>
              <a:t>if winner == </a:t>
            </a:r>
            <a:r>
              <a:rPr sz="1300" b="0" i="0" dirty="0" err="1">
                <a:solidFill>
                  <a:srgbClr val="C5C8C6"/>
                </a:solidFill>
                <a:latin typeface="Consolas"/>
              </a:rPr>
              <a:t>timer_task</a:t>
            </a:r>
            <a:r>
              <a:rPr sz="1300" b="0" i="0" dirty="0">
                <a:solidFill>
                  <a:srgbClr val="C5C8C6"/>
                </a:solidFill>
                <a:latin typeface="Consolas"/>
              </a:rPr>
              <a:t>:</a:t>
            </a:r>
          </a:p>
          <a:p>
            <a:pPr algn="l">
              <a:spcAft>
                <a:spcPts val="0"/>
              </a:spcAft>
            </a:pPr>
            <a:r>
              <a:rPr sz="1300" b="0" i="0" dirty="0">
                <a:solidFill>
                  <a:srgbClr val="DE935F"/>
                </a:solidFill>
                <a:latin typeface="Consolas"/>
              </a:rPr>
              <a:t>    </a:t>
            </a:r>
            <a:r>
              <a:rPr sz="1300" b="0" i="0" dirty="0" err="1">
                <a:solidFill>
                  <a:srgbClr val="DE935F"/>
                </a:solidFill>
                <a:latin typeface="Consolas"/>
              </a:rPr>
              <a:t>event_task.cancel</a:t>
            </a:r>
            <a:r>
              <a:rPr sz="1300" b="0" i="0" dirty="0">
                <a:solidFill>
                  <a:srgbClr val="DE935F"/>
                </a:solidFill>
                <a:latin typeface="Consolas"/>
              </a:rPr>
              <a:t>()   # escalated</a:t>
            </a:r>
          </a:p>
          <a:p>
            <a:pPr algn="l">
              <a:spcAft>
                <a:spcPts val="0"/>
              </a:spcAft>
            </a:pPr>
            <a:r>
              <a:rPr sz="1300" b="0" i="0" dirty="0">
                <a:solidFill>
                  <a:srgbClr val="C5C8C6"/>
                </a:solidFill>
                <a:latin typeface="Consolas"/>
              </a:rPr>
              <a:t>else:</a:t>
            </a:r>
          </a:p>
          <a:p>
            <a:pPr algn="l">
              <a:spcAft>
                <a:spcPts val="0"/>
              </a:spcAft>
            </a:pPr>
            <a:r>
              <a:rPr sz="1300" b="0" i="0" dirty="0">
                <a:solidFill>
                  <a:srgbClr val="DE935F"/>
                </a:solidFill>
                <a:latin typeface="Consolas"/>
              </a:rPr>
              <a:t>    </a:t>
            </a:r>
            <a:r>
              <a:rPr sz="1300" b="0" i="0" dirty="0" err="1">
                <a:solidFill>
                  <a:srgbClr val="DE935F"/>
                </a:solidFill>
                <a:latin typeface="Consolas"/>
              </a:rPr>
              <a:t>timer_task.cancel</a:t>
            </a:r>
            <a:r>
              <a:rPr sz="1300" b="0" i="0" dirty="0">
                <a:solidFill>
                  <a:srgbClr val="DE935F"/>
                </a:solidFill>
                <a:latin typeface="Consolas"/>
              </a:rPr>
              <a:t>()  # approved / rejected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17720"/>
            <a:ext cx="10881360" cy="12080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Font typeface="Arial"/>
              <a:buChar char="▸"/>
            </a:pPr>
            <a:r>
              <a:rPr sz="1400" b="0" i="0" dirty="0" err="1">
                <a:solidFill>
                  <a:srgbClr val="3A4555"/>
                </a:solidFill>
                <a:latin typeface="Calibri"/>
              </a:rPr>
              <a:t>validate_expense_activity</a:t>
            </a:r>
            <a:r>
              <a:rPr sz="1400" b="0" i="0" dirty="0">
                <a:solidFill>
                  <a:srgbClr val="3A4555"/>
                </a:solidFill>
                <a:latin typeface="Calibri"/>
              </a:rPr>
              <a:t> runs first — </a:t>
            </a:r>
            <a:r>
              <a:rPr sz="1400" b="0" i="0" dirty="0" err="1">
                <a:solidFill>
                  <a:srgbClr val="3A4555"/>
                </a:solidFill>
                <a:latin typeface="Calibri"/>
              </a:rPr>
              <a:t>validation_error</a:t>
            </a:r>
            <a:r>
              <a:rPr sz="1400" b="0" i="0" dirty="0">
                <a:solidFill>
                  <a:srgbClr val="3A4555"/>
                </a:solidFill>
                <a:latin typeface="Calibri"/>
              </a:rPr>
              <a:t> result.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buFont typeface="Arial"/>
              <a:buChar char="▸"/>
            </a:pPr>
            <a:r>
              <a:rPr sz="1400" b="0" i="0" dirty="0" err="1">
                <a:solidFill>
                  <a:srgbClr val="3A4555"/>
                </a:solidFill>
                <a:latin typeface="Calibri"/>
              </a:rPr>
              <a:t>task_any</a:t>
            </a:r>
            <a:r>
              <a:rPr sz="1400" b="0" i="0" dirty="0">
                <a:solidFill>
                  <a:srgbClr val="3A4555"/>
                </a:solidFill>
                <a:latin typeface="Calibri"/>
              </a:rPr>
              <a:t>  because the requirement is explicitly a race.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buFont typeface="Arial"/>
              <a:buChar char="▸"/>
            </a:pPr>
            <a:r>
              <a:rPr sz="1400" b="0" i="0" dirty="0">
                <a:solidFill>
                  <a:srgbClr val="3A4555"/>
                </a:solidFill>
                <a:latin typeface="Calibri"/>
              </a:rPr>
              <a:t>The losing task is explicitly .cancel()'d to avoid an orphaned 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buFont typeface="Arial"/>
              <a:buChar char="▸"/>
            </a:pPr>
            <a:r>
              <a:rPr sz="1400" b="0" i="0" dirty="0">
                <a:solidFill>
                  <a:srgbClr val="3A4555"/>
                </a:solidFill>
                <a:latin typeface="Calibri"/>
              </a:rPr>
              <a:t>APPROVAL_TIMEOUT_MINUTES is read in the HTTP starter, not the orchestrator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AAAA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VERSION B · LOGIC APPS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223D"/>
                </a:solidFill>
                <a:latin typeface="Calibri"/>
              </a:rPr>
              <a:t>The same race, built visually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445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2148840" cy="868680"/>
          </a:xfrm>
          <a:prstGeom prst="roundRect">
            <a:avLst>
              <a:gd name="adj" fmla="val 15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0F223D"/>
                </a:solidFill>
                <a:latin typeface="Calibri"/>
              </a:rPr>
              <a:t>Peek-lock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3A4555"/>
                </a:solidFill>
                <a:latin typeface="Calibri"/>
              </a:rPr>
              <a:t>trigger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783080"/>
            <a:ext cx="137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F6FEB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783080"/>
            <a:ext cx="2148840" cy="868680"/>
          </a:xfrm>
          <a:prstGeom prst="roundRect">
            <a:avLst>
              <a:gd name="adj" fmla="val 15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0F223D"/>
                </a:solidFill>
                <a:latin typeface="Calibri"/>
              </a:rPr>
              <a:t>Parse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3A4555"/>
                </a:solidFill>
                <a:latin typeface="Calibri"/>
              </a:rPr>
              <a:t>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783080"/>
            <a:ext cx="137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F6FEB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783080"/>
            <a:ext cx="2148840" cy="868680"/>
          </a:xfrm>
          <a:prstGeom prst="roundRect">
            <a:avLst>
              <a:gd name="adj" fmla="val 15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0F223D"/>
                </a:solidFill>
                <a:latin typeface="Calibri"/>
              </a:rPr>
              <a:t>Condition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3A4555"/>
                </a:solidFill>
                <a:latin typeface="Calibri"/>
              </a:rPr>
              <a:t>amount &lt; 100?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4937760" cy="777240"/>
          </a:xfrm>
          <a:prstGeom prst="roundRect">
            <a:avLst>
              <a:gd name="adj" fmla="val 15000"/>
            </a:avLst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E8E5A"/>
                </a:solidFill>
                <a:latin typeface="Calibri"/>
              </a:rPr>
              <a:t>True → compose "approved" outcome directly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2971800"/>
            <a:ext cx="5715000" cy="777240"/>
          </a:xfrm>
          <a:prstGeom prst="roundRect">
            <a:avLst>
              <a:gd name="adj" fmla="val 15000"/>
            </a:avLst>
          </a:prstGeom>
          <a:solidFill>
            <a:srgbClr val="FB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97A0A"/>
                </a:solidFill>
                <a:latin typeface="Calibri"/>
              </a:rPr>
              <a:t>False → Send approval email &amp; wait for a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3840480"/>
            <a:ext cx="5715000" cy="777240"/>
          </a:xfrm>
          <a:prstGeom prst="roundRect">
            <a:avLst>
              <a:gd name="adj" fmla="val 15000"/>
            </a:avLst>
          </a:prstGeom>
          <a:solidFill>
            <a:srgbClr val="0F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limit.timeout on the connector action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FC3F7"/>
                </a:solidFill>
                <a:latin typeface="Calibri"/>
              </a:rPr>
              <a:t>= Version A's task_any(timer, event), as configuration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4846320"/>
            <a:ext cx="5715000" cy="640080"/>
          </a:xfrm>
          <a:prstGeom prst="roundRect">
            <a:avLst>
              <a:gd name="adj" fmla="val 15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F223D"/>
                </a:solidFill>
                <a:latin typeface="Calibri"/>
              </a:rPr>
              <a:t>Switch on SelectedOption → Approve / Reject / timed-out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AAAA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HEAD TO 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223D"/>
                </a:solidFill>
                <a:latin typeface="Calibri"/>
              </a:rPr>
              <a:t>Comparison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445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2103120" cy="502920"/>
          </a:xfrm>
          <a:prstGeom prst="rect">
            <a:avLst/>
          </a:prstGeom>
          <a:solidFill>
            <a:srgbClr val="0F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0" y="1737360"/>
            <a:ext cx="438912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0" y="1737360"/>
            <a:ext cx="4389120" cy="502920"/>
          </a:xfrm>
          <a:prstGeom prst="rect">
            <a:avLst/>
          </a:prstGeom>
          <a:solidFill>
            <a:srgbClr val="14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73736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Version A · Durable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73736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Version B · Logic Apps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10881360" cy="7955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1828800" cy="795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223D"/>
                </a:solidFill>
                <a:latin typeface="Calibri"/>
              </a:rPr>
              <a:t>Dev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240280"/>
            <a:ext cx="4023360" cy="795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555"/>
                </a:solidFill>
                <a:latin typeface="Calibri"/>
              </a:rPr>
              <a:t>Ordinary Python; one rule — orchestrator code must be replay-safe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240280"/>
            <a:ext cx="4023360" cy="795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555"/>
                </a:solidFill>
                <a:latin typeface="Calibri"/>
              </a:rPr>
              <a:t>Workflow Definition Language expressions; connector-specific shapes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35808"/>
            <a:ext cx="10881360" cy="795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035808"/>
            <a:ext cx="1828800" cy="795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223D"/>
                </a:solidFill>
                <a:latin typeface="Calibri"/>
              </a:rPr>
              <a:t>Testability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035808"/>
            <a:ext cx="4023360" cy="795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555"/>
                </a:solidFill>
                <a:latin typeface="Calibri"/>
              </a:rPr>
              <a:t>Fully local: pytest + func start + Azurite, all 6 scenarios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035808"/>
            <a:ext cx="4023360" cy="795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555"/>
                </a:solidFill>
                <a:latin typeface="Calibri"/>
              </a:rPr>
              <a:t>Only ingestion is local; approval/timeout logic needs deployment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31336"/>
            <a:ext cx="10881360" cy="7955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831336"/>
            <a:ext cx="1828800" cy="795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223D"/>
                </a:solidFill>
                <a:latin typeface="Calibri"/>
              </a:rPr>
              <a:t>Observability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831336"/>
            <a:ext cx="4023360" cy="795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555"/>
                </a:solidFill>
                <a:latin typeface="Calibri"/>
              </a:rPr>
              <a:t>Free statusQueryGetUri + set_custom_status()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831336"/>
            <a:ext cx="4023360" cy="795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555"/>
                </a:solidFill>
                <a:latin typeface="Calibri"/>
              </a:rPr>
              <a:t>Run History per-run only; no single cross-service status 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26864"/>
            <a:ext cx="10881360" cy="795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626864"/>
            <a:ext cx="1828800" cy="795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223D"/>
                </a:solidFill>
                <a:latin typeface="Calibri"/>
              </a:rPr>
              <a:t>Cost @ 100/day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626864"/>
            <a:ext cx="4023360" cy="795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555"/>
                </a:solidFill>
                <a:latin typeface="Calibri"/>
              </a:rPr>
              <a:t>~$0 (inside Functions Consumption free grant)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626864"/>
            <a:ext cx="4023360" cy="795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555"/>
                </a:solidFill>
                <a:latin typeface="Calibri"/>
              </a:rPr>
              <a:t>~$10–15/mo (Service Bus Standard fixed namespace fee)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422392"/>
            <a:ext cx="10881360" cy="7955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5422392"/>
            <a:ext cx="1828800" cy="795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223D"/>
                </a:solidFill>
                <a:latin typeface="Calibri"/>
              </a:rPr>
              <a:t>Cost @ 10,000/day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422392"/>
            <a:ext cx="4023360" cy="795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555"/>
                </a:solidFill>
                <a:latin typeface="Calibri"/>
              </a:rPr>
              <a:t>Low single-digit $/mo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5422392"/>
            <a:ext cx="4023360" cy="795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555"/>
                </a:solidFill>
                <a:latin typeface="Calibri"/>
              </a:rPr>
              <a:t>~$150–225/mo (Logic Apps bills per action executed)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240280"/>
            <a:ext cx="10881360" cy="952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3035808"/>
            <a:ext cx="10881360" cy="952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3831336"/>
            <a:ext cx="10881360" cy="952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0080" y="4626864"/>
            <a:ext cx="10881360" cy="952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" y="5422392"/>
            <a:ext cx="10881360" cy="952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" y="6217920"/>
            <a:ext cx="10881360" cy="952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AAAA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2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9FC3F7"/>
                </a:solidFill>
                <a:latin typeface="Calibri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Version A (Durable Functions) for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881360" cy="1920240"/>
          </a:xfrm>
          <a:prstGeom prst="roundRect">
            <a:avLst>
              <a:gd name="adj" fmla="val 8000"/>
            </a:avLst>
          </a:prstGeom>
          <a:solidFill>
            <a:srgbClr val="16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332720" cy="589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dirty="0">
                <a:solidFill>
                  <a:srgbClr val="E8F1FC"/>
                </a:solidFill>
                <a:latin typeface="Calibri"/>
              </a:rPr>
              <a:t>✓  Materially cheaper at scale — stays anchored to plain Functions compute pricing</a:t>
            </a:r>
          </a:p>
          <a:p>
            <a:pPr algn="l">
              <a:spcAft>
                <a:spcPts val="1000"/>
              </a:spcAft>
            </a:pPr>
            <a:r>
              <a:rPr sz="1500" b="0" i="0" dirty="0">
                <a:solidFill>
                  <a:srgbClr val="E8F1FC"/>
                </a:solidFill>
                <a:latin typeface="Calibri"/>
              </a:rPr>
              <a:t>✓  Fully unit- and integration-testable with nothing deployed to Azure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97A0A"/>
                </a:solidFill>
                <a:latin typeface="Calibri"/>
              </a:rPr>
              <a:t>VERSION B REMAINS THE RIGHT CALL WHEN…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24528"/>
            <a:ext cx="10881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 dirty="0">
                <a:solidFill>
                  <a:srgbClr val="C9D6E8"/>
                </a:solidFill>
                <a:latin typeface="Calibri"/>
              </a:rPr>
              <a:t>No dedicated backend team · business analysts need to edit the flow visually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623560"/>
            <a:ext cx="10881360" cy="12700"/>
          </a:xfrm>
          <a:prstGeom prst="rect">
            <a:avLst/>
          </a:prstGeom>
          <a:solidFill>
            <a:srgbClr val="2A4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FC3F7"/>
                </a:solidFill>
                <a:latin typeface="Calibri"/>
              </a:rPr>
              <a:t>Harshdeep Puri  ·  CST8917 Assignment 2  ·  full write-up in 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609</Words>
  <Application>Microsoft Office PowerPoint</Application>
  <PresentationFormat>Widescreen</PresentationFormat>
  <Paragraphs>110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Harshdeep puri</cp:lastModifiedBy>
  <cp:revision>2</cp:revision>
  <dcterms:created xsi:type="dcterms:W3CDTF">2013-01-27T09:14:16Z</dcterms:created>
  <dcterms:modified xsi:type="dcterms:W3CDTF">2026-08-15T16:17:27Z</dcterms:modified>
  <cp:category/>
</cp:coreProperties>
</file>